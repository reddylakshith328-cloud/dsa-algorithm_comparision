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47adc85c-558b-0393-cb9e-591aa241ec41}">
          <p14:sldIdLst>
            <p14:sldId id="256"/>
          </p14:sldIdLst>
        </p14:section>
        <p14:section name="Novelty of Methodology" id="{deba3d70-34ad-8755-cf0a-696a86c40e2e}">
          <p14:sldIdLst>
            <p14:sldId id="257"/>
            <p14:sldId id="258"/>
          </p14:sldIdLst>
        </p14:section>
        <p14:section name="Adaptability" id="{d93bd9b2-b9bc-60d9-b0f1-2ad2826211b1}">
          <p14:sldIdLst>
            <p14:sldId id="259"/>
            <p14:sldId id="260"/>
          </p14:sldIdLst>
        </p14:section>
        <p14:section name="Methodology Evaluation" id="{9f34f62c-2e59-a96f-61ef-64bd356c9467}">
          <p14:sldIdLst>
            <p14:sldId id="261"/>
            <p14:sldId id="262"/>
          </p14:sldIdLst>
        </p14:section>
        <p14:section name="Dissemination and Accessibility" id="{41b595dd-3643-d72f-a2a7-1229d758deb2}">
          <p14:sldIdLst>
            <p14:sldId id="263"/>
          </p14:sldIdLst>
        </p14:section>
        <p14:section name="Conclusion" id="{4f58b1c6-30c4-2d4a-2eef-a9dbfc77ab3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 covers our developed methodology: its novelty, adaptability, evaluation plan and how we disseminate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five-stage pipeline left to right. Stress that stage 3 is the core of the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points answer the gaps identified in the Review 2 literature gap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Adaptability means the method is not tied to our eight algorithms or our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shows a change that touches only one module, which is the point of the modular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lenses test whether the methodology works, not just whether the code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expected outcomes are taken from the complexity analysis in Review 2. Actual measurements will confirm or challenge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Audiences from Review 1: universities, corporate trainers, AI and data science researchers.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back to the gaps from Review 2,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LARGE SCALE NLP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TEXT ANALYTICS PLATFORM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Review 3 · Methodology, Evaluation &amp; Dissemination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2510030332  Lakshith   |   2510030322  Rahul   |   2510030337  Ranadeep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2510030426  Varshith   |   2510030430  Jivith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Guide: Mr. Aftab Yaseen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Our Methodology at a Glance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Rubric 1 · Novelty of developed methodology · 10 marks</a:t>
            </a:r>
            <a:endParaRPr lang="en-US" sz="1300" dirty="0"/>
          </a:p>
        </p:txBody>
      </p:sp>
      <p:sp>
        <p:nvSpPr>
          <p:cNvPr id="5" name="Stage 1"/>
          <p:cNvSpPr/>
          <p:nvPr/>
        </p:nvSpPr>
        <p:spPr>
          <a:xfrm>
            <a:off x="457200" y="1371600"/>
            <a:ext cx="1481328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481328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5087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1  Dataset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116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Load and clean real text corpora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956816" y="228600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age 2"/>
          <p:cNvSpPr/>
          <p:nvPr/>
        </p:nvSpPr>
        <p:spPr>
          <a:xfrm>
            <a:off x="2144268" y="1371600"/>
            <a:ext cx="1481328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4268" y="1371600"/>
            <a:ext cx="1481328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53996" y="15087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2  Algorithm library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253996" y="20116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KMP, Boyer-Moore, Rabin-Karp, Aho-Corasick, suffix array, Huffman, edit distance, TF-IDF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43884" y="228600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age 3"/>
          <p:cNvSpPr/>
          <p:nvPr/>
        </p:nvSpPr>
        <p:spPr>
          <a:xfrm>
            <a:off x="3831336" y="1371600"/>
            <a:ext cx="1481328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1336" y="1371600"/>
            <a:ext cx="1481328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41064" y="15087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3  Instrumented run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941064" y="20116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Each step emits events and counters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30952" y="228600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age 4"/>
          <p:cNvSpPr/>
          <p:nvPr/>
        </p:nvSpPr>
        <p:spPr>
          <a:xfrm>
            <a:off x="5518404" y="1371600"/>
            <a:ext cx="1481328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18404" y="1371600"/>
            <a:ext cx="1481328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28132" y="15087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4  Metrics store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28132" y="20116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Runtime, memory, comparisons saved per run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18020" y="2286000"/>
            <a:ext cx="17373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age 5"/>
          <p:cNvSpPr/>
          <p:nvPr/>
        </p:nvSpPr>
        <p:spPr>
          <a:xfrm>
            <a:off x="7205472" y="1371600"/>
            <a:ext cx="1481328" cy="2103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1371600"/>
            <a:ext cx="1481328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15087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5  Dashboard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01168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Visualize, compare, benchmark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Key idea: one instrumented engine drives both the live visualization and the benchmark, so what learners see is exactly what is measured.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What Is Novel in the Methodology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Rubric 1 · Novelty of developed methodology · 10 marks</a:t>
            </a:r>
            <a:endParaRPr lang="en-US" sz="1300" dirty="0"/>
          </a:p>
        </p:txBody>
      </p:sp>
      <p:sp>
        <p:nvSpPr>
          <p:cNvPr id="5" name="Card Instrumented execution trace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ard bar"/>
          <p:cNvSpPr/>
          <p:nvPr/>
        </p:nvSpPr>
        <p:spPr>
          <a:xfrm>
            <a:off x="457200" y="1280160"/>
            <a:ext cx="54864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Instrumented execution trace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Every algorithm reports each comparison, shift and memory use, which feeds both animation and metrics.</a:t>
            </a:r>
            <a:endParaRPr lang="en-US" sz="1450" dirty="0"/>
          </a:p>
        </p:txBody>
      </p:sp>
      <p:sp>
        <p:nvSpPr>
          <p:cNvPr id="9" name="Card Visualize + benchmark together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Card bar"/>
          <p:cNvSpPr/>
          <p:nvPr/>
        </p:nvSpPr>
        <p:spPr>
          <a:xfrm>
            <a:off x="4663440" y="1280160"/>
            <a:ext cx="54864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Visualize + benchmark together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Existing tools do one or the other. We run both on the same dataset in one platform.</a:t>
            </a:r>
            <a:endParaRPr lang="en-US" sz="1450" dirty="0"/>
          </a:p>
        </p:txBody>
      </p:sp>
      <p:sp>
        <p:nvSpPr>
          <p:cNvPr id="13" name="Card Theory next to measurement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Card bar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Theory next to measurement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Measured runtime is plotted against the Big-O curve, linking theory to real behaviour.</a:t>
            </a:r>
            <a:endParaRPr lang="en-US" sz="1450" dirty="0"/>
          </a:p>
        </p:txBody>
      </p:sp>
      <p:sp>
        <p:nvSpPr>
          <p:cNvPr id="17" name="Card Real large-scale text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Card bar"/>
          <p:cNvSpPr/>
          <p:nvPr/>
        </p:nvSpPr>
        <p:spPr>
          <a:xfrm>
            <a:off x="4663440" y="2926080"/>
            <a:ext cx="54864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Real large-scale text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Users run their own experiments on real corpora and tune parameters, not toy inputs.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Adaptability of the Methodology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Rubric 2 · Adaptability of methodology · 10 marks</a:t>
            </a:r>
            <a:endParaRPr lang="en-US" sz="1300" dirty="0"/>
          </a:p>
        </p:txBody>
      </p:sp>
      <p:sp>
        <p:nvSpPr>
          <p:cNvPr id="5" name="Card Pluggable algorithms"/>
          <p:cNvSpPr/>
          <p:nvPr/>
        </p:nvSpPr>
        <p:spPr>
          <a:xfrm>
            <a:off x="457200" y="1280160"/>
            <a:ext cx="265176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ard bar"/>
          <p:cNvSpPr/>
          <p:nvPr/>
        </p:nvSpPr>
        <p:spPr>
          <a:xfrm>
            <a:off x="457200" y="1280160"/>
            <a:ext cx="54864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Pluggable algorithms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Every algorithm follows one common interface: prepare, run, emit events. A new algorithm plugs in without changing the visualizer or dashboard.</a:t>
            </a:r>
            <a:endParaRPr lang="en-US" sz="1450" dirty="0"/>
          </a:p>
        </p:txBody>
      </p:sp>
      <p:sp>
        <p:nvSpPr>
          <p:cNvPr id="9" name="Card Swappable datasets"/>
          <p:cNvSpPr/>
          <p:nvPr/>
        </p:nvSpPr>
        <p:spPr>
          <a:xfrm>
            <a:off x="3246120" y="1280160"/>
            <a:ext cx="265176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Card bar"/>
          <p:cNvSpPr/>
          <p:nvPr/>
        </p:nvSpPr>
        <p:spPr>
          <a:xfrm>
            <a:off x="3246120" y="1280160"/>
            <a:ext cx="54864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Swappable datasets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373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Text files, CSV or database tables load through one dataset manager, so any corpus can be tested.</a:t>
            </a:r>
            <a:endParaRPr lang="en-US" sz="1450" dirty="0"/>
          </a:p>
        </p:txBody>
      </p:sp>
      <p:sp>
        <p:nvSpPr>
          <p:cNvPr id="13" name="Card Configurable experiments"/>
          <p:cNvSpPr/>
          <p:nvPr/>
        </p:nvSpPr>
        <p:spPr>
          <a:xfrm>
            <a:off x="6035040" y="1280160"/>
            <a:ext cx="265176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Card bar"/>
          <p:cNvSpPr/>
          <p:nvPr/>
        </p:nvSpPr>
        <p:spPr>
          <a:xfrm>
            <a:off x="6035040" y="1280160"/>
            <a:ext cx="54864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Configurable experiments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7373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Input size, pattern length, alphabet and metrics are parameters set from the dashboard, not hard-coded.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Result: the same methodology works for new algorithms, new data and new domains.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Extending the Platform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Rubric 2 · Adaptability of methodology · 10 marks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To adapt to...</a:t>
                      </a:r>
                      <a:endParaRPr lang="en-US" sz="14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What changes</a:t>
                      </a:r>
                      <a:endParaRPr lang="en-US" sz="14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</a:rPr>
                        <a:t>What stays the same</a:t>
                      </a:r>
                      <a:endParaRPr lang="en-US" sz="14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 new algorithm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 one class using the common interface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Visualizer, dashboard, metrics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 new dataset or language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Register it in the dataset manager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Algorithms and dashboard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 new metric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 a counter to the execution trace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Algorithm logic, storage layer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 new domain (DNA, logs, code)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Choose corpus and alphabet settings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Whole pipeline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 new setting (laptop, lab, web)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Choose Streamlit or JavaFX front end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Core engine and algorithms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How We Evaluate the Methodology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Rubric 3 · Methodology evaluation · 10 marks</a:t>
            </a:r>
            <a:endParaRPr lang="en-US" sz="1300" dirty="0"/>
          </a:p>
        </p:txBody>
      </p:sp>
      <p:sp>
        <p:nvSpPr>
          <p:cNvPr id="5" name="Card Correctness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ard bar"/>
          <p:cNvSpPr/>
          <p:nvPr/>
        </p:nvSpPr>
        <p:spPr>
          <a:xfrm>
            <a:off x="457200" y="1280160"/>
            <a:ext cx="54864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Correctness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Compare each algorithm's output with trusted reference results and cover it with unit tests.</a:t>
            </a:r>
            <a:endParaRPr lang="en-US" sz="1450" dirty="0"/>
          </a:p>
        </p:txBody>
      </p:sp>
      <p:sp>
        <p:nvSpPr>
          <p:cNvPr id="9" name="Card Performance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Card bar"/>
          <p:cNvSpPr/>
          <p:nvPr/>
        </p:nvSpPr>
        <p:spPr>
          <a:xfrm>
            <a:off x="4663440" y="1280160"/>
            <a:ext cx="54864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Record runtime, memory and comparison counts for every run on the same inputs.</a:t>
            </a:r>
            <a:endParaRPr lang="en-US" sz="1450" dirty="0"/>
          </a:p>
        </p:txBody>
      </p:sp>
      <p:sp>
        <p:nvSpPr>
          <p:cNvPr id="13" name="Card Scalability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Card bar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Repeat experiments on growing text sizes to see how each algorithm scales.</a:t>
            </a:r>
            <a:endParaRPr lang="en-US" sz="1450" dirty="0"/>
          </a:p>
        </p:txBody>
      </p:sp>
      <p:sp>
        <p:nvSpPr>
          <p:cNvPr id="17" name="Card Usability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Card bar"/>
          <p:cNvSpPr/>
          <p:nvPr/>
        </p:nvSpPr>
        <p:spPr>
          <a:xfrm>
            <a:off x="4663440" y="2926080"/>
            <a:ext cx="54864" cy="1463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Usability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Collect learner feedback from lab sessions on clarity of the visualizations.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Evaluation Plan: Experiments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Rubric 3 · Methodology evaluation · expected outcomes come from the literature</a:t>
            </a:r>
            <a:endParaRPr lang="en-US" sz="13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9202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Experiment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Variable changed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Measured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Expected outcome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E1 Pattern length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Short to long patterns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Runtime, comparisons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Boyer-Moore gains on long patterns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E2 Pattern count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1 to many keywords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Total scan time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Aho-Corasick wins with many patterns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E3 Alphabet size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Binary to full text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Runtime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Skip-based methods improve with larger alphabets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E4 Index vs scan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Number of queries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Build + query time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Suffix array pays off with many queries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E5 Compression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Text type and size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Ratio, time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</a:rPr>
                        <a:t>Huffman ratio depends on symbol frequencies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Results will be reported as measured values against these expectations.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Dissemination and Accessibility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Rubric 4 · Dissemination and accessibility · 10 marks</a:t>
            </a:r>
            <a:endParaRPr lang="en-US" sz="1300" dirty="0"/>
          </a:p>
        </p:txBody>
      </p:sp>
      <p:sp>
        <p:nvSpPr>
          <p:cNvPr id="5" name="Card Open-source release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ard bar"/>
          <p:cNvSpPr/>
          <p:nvPr/>
        </p:nvSpPr>
        <p:spPr>
          <a:xfrm>
            <a:off x="457200" y="1280160"/>
            <a:ext cx="54864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Open-source release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Code, sample datasets and a README published in a public repository for reuse.</a:t>
            </a:r>
            <a:endParaRPr lang="en-US" sz="1450" dirty="0"/>
          </a:p>
        </p:txBody>
      </p:sp>
      <p:sp>
        <p:nvSpPr>
          <p:cNvPr id="9" name="Card Easy access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Card bar"/>
          <p:cNvSpPr/>
          <p:nvPr/>
        </p:nvSpPr>
        <p:spPr>
          <a:xfrm>
            <a:off x="4663440" y="1280160"/>
            <a:ext cx="54864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Easy access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Browser-based dashboard plus Jupyter notebooks, with no licence cost and no heavy setup.</a:t>
            </a:r>
            <a:endParaRPr lang="en-US" sz="1450" dirty="0"/>
          </a:p>
        </p:txBody>
      </p:sp>
      <p:sp>
        <p:nvSpPr>
          <p:cNvPr id="13" name="Card Documentation and training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Card bar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Documentation and training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Lab manual, tutorials and guided exercises for courses and corporate training.</a:t>
            </a:r>
            <a:endParaRPr lang="en-US" sz="1450" dirty="0"/>
          </a:p>
        </p:txBody>
      </p:sp>
      <p:sp>
        <p:nvSpPr>
          <p:cNvPr id="17" name="Card Inclusive design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Card bar"/>
          <p:cNvSpPr/>
          <p:nvPr/>
        </p:nvSpPr>
        <p:spPr>
          <a:xfrm>
            <a:off x="4663440" y="2926080"/>
            <a:ext cx="54864" cy="14630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Inclusive design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</a:rPr>
              <a:t>Colour-blind safe charts, adjustable animation speed and support for standard student hardware.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Conclusion and Next Steps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Presentation Skills · 10 marks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Novel: one instrumented engine powers visualization and benchmarking.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Adaptable: new algorithms, datasets, metrics and domains plug in easily.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Evaluated: correctness, performance, scalability and usability experiments.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Accessible: open-source, browser-based and documented for learners.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Next: implement modules, run experiments E1 to E5, prepare final report.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Thank you · Questions?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P Review 3">
  <a:themeElements>
    <a:clrScheme name="NLP Review 3">
      <a:dk1>
        <a:srgbClr val="0D1424"/>
      </a:dk1>
      <a:lt1>
        <a:srgbClr val="E8EEF7"/>
      </a:lt1>
      <a:dk2>
        <a:srgbClr val="162038"/>
      </a:dk2>
      <a:lt2>
        <a:srgbClr val="9FB0C8"/>
      </a:lt2>
      <a:accent1>
        <a:srgbClr val="F05A5A"/>
      </a:accent1>
      <a:accent2>
        <a:srgbClr val="3BA9C9"/>
      </a:accent2>
      <a:accent3>
        <a:srgbClr val="E07A8A"/>
      </a:accent3>
      <a:accent4>
        <a:srgbClr val="D9923B"/>
      </a:accent4>
      <a:accent5>
        <a:srgbClr val="FFFFFF"/>
      </a:accent5>
      <a:accent6>
        <a:srgbClr val="6C7A96"/>
      </a:accent6>
      <a:hlink>
        <a:srgbClr val="3BA9C9"/>
      </a:hlink>
      <a:folHlink>
        <a:srgbClr val="9FB0C8"/>
      </a:folHlink>
    </a:clrScheme>
    <a:fontScheme name="NLP Review 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3 - Methodology</dc:title>
  <dc:subject>PptxGenJS Presentation</dc:subject>
  <dc:creator>Team NLP</dc:creator>
  <cp:lastModifiedBy>Team NLP</cp:lastModifiedBy>
  <cp:revision>1</cp:revision>
  <dcterms:created xsi:type="dcterms:W3CDTF">2026-10-07T12:55:36Z</dcterms:created>
  <dcterms:modified xsi:type="dcterms:W3CDTF">2026-10-07T12:55:36Z</dcterms:modified>
</cp:coreProperties>
</file>