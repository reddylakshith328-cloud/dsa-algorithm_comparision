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63100" y="657225"/>
            <a:ext cx="2019300" cy="285750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514826"/>
            <a:ext cx="2072580" cy="733425"/>
          </a:xfrm>
          <a:prstGeom prst="roundRect">
            <a:avLst>
              <a:gd name="adj" fmla="val 15584"/>
            </a:avLst>
          </a:prstGeom>
          <a:solidFill>
            <a:srgbClr val="19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580" y="5514826"/>
            <a:ext cx="2072580" cy="733425"/>
          </a:xfrm>
          <a:prstGeom prst="roundRect">
            <a:avLst>
              <a:gd name="adj" fmla="val 15584"/>
            </a:avLst>
          </a:prstGeom>
          <a:solidFill>
            <a:srgbClr val="19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560" y="5514826"/>
            <a:ext cx="2072580" cy="733425"/>
          </a:xfrm>
          <a:prstGeom prst="roundRect">
            <a:avLst>
              <a:gd name="adj" fmla="val 15584"/>
            </a:avLst>
          </a:prstGeom>
          <a:solidFill>
            <a:srgbClr val="19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541" y="5514826"/>
            <a:ext cx="2072580" cy="733425"/>
          </a:xfrm>
          <a:prstGeom prst="roundRect">
            <a:avLst>
              <a:gd name="adj" fmla="val 15584"/>
            </a:avLst>
          </a:prstGeom>
          <a:solidFill>
            <a:srgbClr val="19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521" y="5514826"/>
            <a:ext cx="2072580" cy="733425"/>
          </a:xfrm>
          <a:prstGeom prst="roundRect">
            <a:avLst>
              <a:gd name="adj" fmla="val 15584"/>
            </a:avLst>
          </a:prstGeom>
          <a:solidFill>
            <a:srgbClr val="19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514826"/>
            <a:ext cx="207258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580" y="5514826"/>
            <a:ext cx="2072580" cy="19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9560" y="5514826"/>
            <a:ext cx="207258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4541" y="5514826"/>
            <a:ext cx="207258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521" y="5514826"/>
            <a:ext cx="2072580" cy="19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70485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6450" y="714375"/>
            <a:ext cx="1847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PBL REVIEW 3 EVALUATION</a:t>
            </a:r>
            <a:endParaRPr sz="1050" b="0" i="0" u="none">
              <a:solidFill>
                <a:srgbClr val="94A3B8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2391667"/>
            <a:ext cx="10953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JetBrains Mono"/>
              </a:rPr>
              <a:t>LARGE-SCALE TEXT ANALYTICS PLATFORM</a:t>
            </a:r>
            <a:endParaRPr sz="1200" b="1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2744092"/>
            <a:ext cx="11501437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Advanced Algorithm Laboratory</a:t>
            </a:r>
            <a:endParaRPr sz="39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" y="3542258"/>
            <a:ext cx="7524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An interactive educational &amp; benchmarking laboratory for visualizing, evaluating, and profiling text analytics algorithms across large-scale corpora.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4900" y="714375"/>
            <a:ext cx="1821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DSA ALGORITHM LAB</a:t>
            </a:r>
            <a:endParaRPr sz="1050" b="1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0100" y="5686276"/>
            <a:ext cx="2114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Lakshith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" y="5924401"/>
            <a:ext cx="2114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Visualization &amp; Frontend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25080" y="5686276"/>
            <a:ext cx="2114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Rahul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25080" y="5924401"/>
            <a:ext cx="2114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Benchmarking Engine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50060" y="5686276"/>
            <a:ext cx="2114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Ranadeep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50060" y="5924401"/>
            <a:ext cx="2114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Dataset Management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5041" y="5686276"/>
            <a:ext cx="2114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Jivith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75041" y="5924401"/>
            <a:ext cx="2114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UI &amp; Integration Testing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00021" y="5686276"/>
            <a:ext cx="2114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Varshith</a:t>
            </a:r>
            <a:endParaRPr sz="1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00021" y="5924401"/>
            <a:ext cx="2114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Backend Development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1312"/>
            <a:ext cx="35052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81312"/>
            <a:ext cx="35052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81312"/>
            <a:ext cx="35052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53475" y="542925"/>
            <a:ext cx="282892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33737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233737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233737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Bridging Algorithm Theory &amp; Real Compute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1323975"/>
            <a:ext cx="8477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Empirical laboratory replacing static textbook proofs with live server-side execution telemetry and performance measurement.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PROJECT OVERVIEW</a:t>
            </a:r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7775" y="581025"/>
            <a:ext cx="2695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JetBrains Mono"/>
              </a:rPr>
              <a:t>RUBRIC: TECHNICAL COMPETENCE (10 MARKS)</a:t>
            </a:r>
            <a:endParaRPr sz="9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671887"/>
            <a:ext cx="3619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18,846</a:t>
            </a:r>
            <a:endParaRPr sz="33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243387"/>
            <a:ext cx="3800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Dataset Documents</a:t>
            </a:r>
            <a:endParaRPr sz="1350" b="1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538662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Large-scale corpus integrated across 20 distinct categories.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48200" y="3671887"/>
            <a:ext cx="3619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22.04M</a:t>
            </a:r>
            <a:endParaRPr sz="33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48200" y="4243387"/>
            <a:ext cx="3800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Processed Characters</a:t>
            </a:r>
            <a:endParaRPr sz="1350" b="1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8200" y="4538662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Real-time workload evaluation for large-scale text analytics.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0" y="3671887"/>
            <a:ext cx="3619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12</a:t>
            </a:r>
            <a:endParaRPr sz="33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2000" y="4243387"/>
            <a:ext cx="3800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Algorithms Integrated</a:t>
            </a:r>
            <a:endParaRPr sz="1350" b="1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82000" y="4538662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Exact pattern search, multi-pattern, vector space, and similarity models.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8937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8925"/>
            <a:ext cx="35052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8925"/>
            <a:ext cx="35052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3575" y="542925"/>
            <a:ext cx="2028825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5755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157537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157537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Comprehensive 12-Algorithm Engine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60325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)</a:t>
            </a:r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67875" y="581025"/>
            <a:ext cx="1895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JetBrains Mono"/>
              </a:rPr>
              <a:t>4 CORE ALGORITHM CATEGORIES</a:t>
            </a:r>
            <a:endParaRPr sz="900" b="1" i="0" u="none">
              <a:solidFill>
                <a:srgbClr val="0284C7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624262"/>
            <a:ext cx="361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Naive, KMP, Rabin-Karp, Boyer-Moore.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93858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Sub-linear pattern search guarantees with prefix/suffix shift tables.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8200" y="35242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Aho-Corasick, Trie, Suffix Array, Kasai LCP.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8200" y="4038600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Automata-driven dictionary matching and full-text index structures.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000" y="35242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Edit Distance, TF-IDF, Inverted Index, Text Similarity.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0" y="4038600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Dynamic programming alignment and term relevance ranking.</a:t>
            </a:r>
            <a:endParaRPr sz="112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19200" y="3233737"/>
            <a:ext cx="28253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Exact Pattern Matching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0625" y="3133725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Multi-Pattern &amp; Trees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67750" y="3133725"/>
            <a:ext cx="30628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Similarity &amp; Vector Space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86875" y="542925"/>
            <a:ext cx="229552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71675"/>
            <a:ext cx="4421237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4421237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67225"/>
            <a:ext cx="4421237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3262" y="1966912"/>
            <a:ext cx="267652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Unified Laboratory Workspace &amp; Telemetry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1175" y="58102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JetBrains Mono"/>
              </a:rPr>
              <a:t>SYSTEM ARCHITECTURE &amp; DASHBOARD</a:t>
            </a:r>
            <a:endParaRPr sz="9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2200275"/>
            <a:ext cx="52027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Interactive Dashboard Hub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2476500"/>
            <a:ext cx="40592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Centralized navigation across 8 specialized laboratory modules.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448050"/>
            <a:ext cx="52027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Real-Time Server Benchmarks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3724275"/>
            <a:ext cx="40592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Every number measured live on the backend server at request time.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4695825"/>
            <a:ext cx="52027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Integrated Performance Charts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00" y="4972050"/>
            <a:ext cx="40592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Automated throughput tracking comparing exact matching strategies.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7" name="Picture 16" descr="Screenshot 2026-10-07 at 9.01.0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170" y="1775460"/>
            <a:ext cx="7148830" cy="4368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53600" y="542925"/>
            <a:ext cx="1828800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347912"/>
          <a:ext cx="10972798" cy="2838450"/>
        </p:xfrm>
        <a:graphic>
          <a:graphicData uri="http://schemas.openxmlformats.org/drawingml/2006/table">
            <a:tbl>
              <a:tblPr/>
              <a:tblGrid>
                <a:gridCol w="1828800"/>
                <a:gridCol w="1562100"/>
                <a:gridCol w="1727150"/>
                <a:gridCol w="1816000"/>
                <a:gridCol w="4038748"/>
              </a:tblGrid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ALGORITHM</a:t>
                      </a:r>
                      <a:endParaRPr sz="1125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WORKLOAD</a:t>
                      </a:r>
                      <a:endParaRPr sz="1125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RUNTIME (MS)</a:t>
                      </a:r>
                      <a:endParaRPr sz="1125" b="1" i="0" u="none">
                        <a:solidFill>
                          <a:srgbClr val="2563E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PEAK MEMORY</a:t>
                      </a:r>
                      <a:endParaRPr sz="1125" b="1" i="0" u="none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EVALUATION REMARKS</a:t>
                      </a:r>
                      <a:endParaRPr sz="1125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Inverted Index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2,000 chars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0.1714 ms</a:t>
                      </a:r>
                      <a:endParaRPr sz="1200" b="1" i="0" u="none">
                        <a:solidFill>
                          <a:srgbClr val="2563E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37.10 KB</a:t>
                      </a:r>
                      <a:endParaRPr sz="1125" b="0" i="0" u="none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Fastest overall search performer.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E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Text Similarity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2,000 chars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0.2500 ms</a:t>
                      </a:r>
                      <a:endParaRPr sz="1200" b="1" i="0" u="none">
                        <a:solidFill>
                          <a:srgbClr val="2563E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40.37 KB</a:t>
                      </a:r>
                      <a:endParaRPr sz="1125" b="0" i="0" u="none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Highly efficient vector space scoring.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TF-IDF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2,000 chars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0.3068 ms</a:t>
                      </a:r>
                      <a:endParaRPr sz="1200" b="1" i="0" u="none">
                        <a:solidFill>
                          <a:srgbClr val="2563E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33.28 KB</a:t>
                      </a:r>
                      <a:endParaRPr sz="1125" b="0" i="0" u="none">
                        <a:solidFill>
                          <a:srgbClr val="0284C7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Optimal balance for document retrieval.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Rabin-Karp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2,000 chars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1.9310 ms</a:t>
                      </a:r>
                      <a:endParaRPr sz="1200" b="1" i="0" u="none">
                        <a:solidFill>
                          <a:srgbClr val="2563E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10.41 KB</a:t>
                      </a:r>
                      <a:endParaRPr sz="1200" b="1" i="0" u="none">
                        <a:solidFill>
                          <a:srgbClr val="0596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Lowest measured memory footprint.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Edit Distance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2,000 chars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6.9000 ms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~630 KB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 memory overhead from DP matrix.</a:t>
                      </a:r>
                      <a:endParaRPr sz="112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Empirical Runtime &amp; Memory Profiling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67900" y="581025"/>
            <a:ext cx="1695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JetBrains Mono"/>
              </a:rPr>
              <a:t>SERVER-SIDE MEASUREMENTS</a:t>
            </a:r>
            <a:endParaRPr sz="900" b="1" i="0" u="none">
              <a:solidFill>
                <a:srgbClr val="16A34A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20275" y="542925"/>
            <a:ext cx="176212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61162" y="2157412"/>
            <a:ext cx="4421237" cy="1514475"/>
          </a:xfrm>
          <a:prstGeom prst="roundRect">
            <a:avLst>
              <a:gd name="adj" fmla="val 100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61162" y="3862387"/>
            <a:ext cx="4421237" cy="1514475"/>
          </a:xfrm>
          <a:prstGeom prst="roundRect">
            <a:avLst>
              <a:gd name="adj" fmla="val 100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57387"/>
            <a:ext cx="6208662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966912"/>
            <a:ext cx="26574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862" y="2424112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862" y="4129087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Controlled Multi-Algorithm Head-to-Head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34575" y="581025"/>
            <a:ext cx="1628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JetBrains Mono"/>
              </a:rPr>
              <a:t>BENCHMARK BATTLE ENGINE</a:t>
            </a:r>
            <a:endParaRPr sz="9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27862" y="2767012"/>
            <a:ext cx="47641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Configurable Workload Seeds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27862" y="3043237"/>
            <a:ext cx="39830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Identical text inputs adapted cleanly across string matching and vector algorithms.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7862" y="4471987"/>
            <a:ext cx="47641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Scalable Input Control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7862" y="4748212"/>
            <a:ext cx="39830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Stress test inputs up to 200,000+ characters with custom repetition parameterizing.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6" name="Picture 15" descr="Screenshot 2026-10-07 at 9.02.07 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50" y="1425575"/>
            <a:ext cx="6915150" cy="5192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1775"/>
            <a:ext cx="2600325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622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622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622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53625" y="542925"/>
            <a:ext cx="1628775" cy="228600"/>
          </a:xfrm>
          <a:prstGeom prst="roundRect">
            <a:avLst>
              <a:gd name="adj" fmla="val 50000"/>
            </a:avLst>
          </a:prstGeom>
          <a:solidFill>
            <a:srgbClr val="CF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3076575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3167062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3167062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775" y="316706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Next-Generation Laboratory Innovations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67925" y="581025"/>
            <a:ext cx="1495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891B2"/>
                </a:solidFill>
                <a:latin typeface="JetBrains Mono"/>
              </a:rPr>
              <a:t>SMART RECOMMENDATIONS</a:t>
            </a:r>
            <a:endParaRPr sz="900" b="1" i="0" u="none">
              <a:solidFill>
                <a:srgbClr val="0891B2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6300" y="3476625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Algorithm Intelligence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6300" y="3771900"/>
            <a:ext cx="216217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Automated recommendation engine mapping optimal algorithms to workload constraints.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67125" y="3567112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Unified Comparison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67125" y="3862387"/>
            <a:ext cx="21621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Simultaneous multi-algorithm benchmarking on custom text inputs.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57950" y="3567112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Precision Profiling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7950" y="3862387"/>
            <a:ext cx="21621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Microsecond runtime telemetry and Python memory allocation hooks.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48775" y="3567112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Sustainable Compute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775" y="3862387"/>
            <a:ext cx="21621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Lightweight local processing minimizing heavy cloud compute reliance.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1762"/>
            <a:ext cx="35052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71762"/>
            <a:ext cx="35052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71762"/>
            <a:ext cx="35052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86925" y="542925"/>
            <a:ext cx="189547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765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9765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9765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" y="310991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310991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875" y="3109912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Educational Impact &amp; Reproducibility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01225" y="581025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JetBrains Mono"/>
              </a:rPr>
              <a:t>ACADEMIC &amp; INDUSTRY VALUE</a:t>
            </a:r>
            <a:endParaRPr sz="900" b="1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624262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Reduced Cognitive Load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957637"/>
            <a:ext cx="29908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Visual pointer tracing clarifies complex string matching logic step-by-step for students.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48200" y="3624262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Reproducible Research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8200" y="3957637"/>
            <a:ext cx="29908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Standardized testbed across 22M+ character corpus for consistent academic benchmarking.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0" y="3624262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Open Academic Platform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2000" y="3957637"/>
            <a:ext cx="29908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Extensible open-source architecture for introducing new NLP &amp; text search algorithms.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3650" y="542925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00312"/>
            <a:ext cx="4421237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62387"/>
            <a:ext cx="4421237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3737" y="1957387"/>
            <a:ext cx="6208662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262" y="1966912"/>
            <a:ext cx="311467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Workload-Aware Recommendation Engine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27000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67950" y="581025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JetBrains Mono"/>
              </a:rPr>
              <a:t>RECOMMENDATION HUB</a:t>
            </a:r>
            <a:endParaRPr sz="9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2767012"/>
            <a:ext cx="51027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Transparent Decision Rules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3043237"/>
            <a:ext cx="39830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Considers task type, text size, pattern size, alphabet, and query frequency.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6300" y="4129087"/>
            <a:ext cx="51027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Algorithmic Scoring &amp; Justification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4405312"/>
            <a:ext cx="398308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Provides instant scores and structural reasons for selected algorithm recommendations.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4" name="Picture 13" descr="Screenshot 2026-10-07 at 9.03.12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485" y="1619250"/>
            <a:ext cx="6733540" cy="4156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7012" y="4095750"/>
            <a:ext cx="6657975" cy="666750"/>
          </a:xfrm>
          <a:prstGeom prst="roundRect">
            <a:avLst>
              <a:gd name="adj" fmla="val 22857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337" y="4295775"/>
            <a:ext cx="257175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5218" y="1533525"/>
            <a:ext cx="4881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JetBrains Mono"/>
              </a:rPr>
              <a:t>PRESENTATION SKILLS &amp; EVALUATION COMPLETE</a:t>
            </a:r>
            <a:endParaRPr sz="1200" b="1" i="0" u="none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359" y="1885950"/>
            <a:ext cx="10251281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Advanced Text Analytics Laboratory</a:t>
            </a:r>
            <a:endParaRPr sz="36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47875" y="3238500"/>
            <a:ext cx="8096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Empirical Evaluation, Real-time Visualization, and Intelligent Benchmarking Engine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2140" y="5105400"/>
            <a:ext cx="4607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Thank You — Ready for Questions &amp; Discussion</a:t>
            </a:r>
            <a:endParaRPr sz="13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88443" y="4329112"/>
            <a:ext cx="7024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JetBrains Mono"/>
              </a:rPr>
              <a:t>github.com/reddylakshith328-cloud/DSA-Algorithm_Comparision</a:t>
            </a:r>
            <a:endParaRPr sz="1200" b="0" i="0" u="none">
              <a:solidFill>
                <a:srgbClr val="38BDF8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3793</Words>
  <Application>WPS Presentation</Application>
  <PresentationFormat>On-screen Show (4:3)</PresentationFormat>
  <Paragraphs>230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Arial</vt:lpstr>
      <vt:lpstr>JetBrains Mono</vt:lpstr>
      <vt:lpstr>Thonburi</vt:lpstr>
      <vt:lpstr>Plus Jakarta Sans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Lakshith Reddy</cp:lastModifiedBy>
  <cp:revision>3</cp:revision>
  <dcterms:created xsi:type="dcterms:W3CDTF">2026-10-07T07:40:10Z</dcterms:created>
  <dcterms:modified xsi:type="dcterms:W3CDTF">2026-10-07T07:40:10Z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58CE57AD03693900C7BDC56A212B5145_42</vt:lpwstr>
  </property>
</Properties>
</file>